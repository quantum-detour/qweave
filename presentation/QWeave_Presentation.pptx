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82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0758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0:00 – 0:30 (30 seconds)</a:t>
            </a:r>
          </a:p>
          <a:p>
            <a:r>
              <a:t>=====================================================</a:t>
            </a:r>
          </a:p>
          <a:p>
            <a:r>
              <a:t>🎤 WHAT TO SAY (Speaker Script - Read aloud):</a:t>
            </a:r>
          </a:p>
          <a:p>
            <a:r>
              <a:t>=====================================================</a:t>
            </a:r>
          </a:p>
          <a:p>
            <a:r>
              <a:t>Hello everyone. Today we are presenting QWeave, our submission for the Qiskit Fall Fest 2026 Hyperbolic Futures challenge, hosted by quanTA at the University of Saskatchewan. Our team consists of Aaron Huang, Calvin Cheng, and myself, Bhaskar Mahajan. In near-term quantum processors, establishing long-distance entanglement requires routing qubits across noisy hardware. Our project investigates whether encoding quantum information across multiple disjoint hardware paths—known as QMRP—and taking advantage of hyperbolic chip geometry can protect Bell state fidelity against industry-standard compilers like Qiskit's SABRE.</a:t>
            </a:r>
          </a:p>
          <a:p>
            <a:endParaRPr/>
          </a:p>
          <a:p>
            <a:r>
              <a:t>=====================================================</a:t>
            </a:r>
          </a:p>
          <a:p>
            <a:r>
              <a:t>💡 SUBTEXT FOR YOUR UNDERSTANDING (Do NOT read aloud):</a:t>
            </a:r>
          </a:p>
          <a:p>
            <a:r>
              <a:t>=====================================================</a:t>
            </a:r>
          </a:p>
          <a:p>
            <a:r>
              <a:t>Keep opening confident, crisp, and under 30 seconds.</a:t>
            </a:r>
          </a:p>
          <a:p>
            <a:endParaRPr/>
          </a:p>
          <a:p>
            <a:r>
              <a:t>=====================================================</a:t>
            </a:r>
          </a:p>
          <a:p>
            <a:r>
              <a:t>❓ ANTICIPATED JUDGE QUESTIONS &amp; QUICK REPLIES:</a:t>
            </a:r>
          </a:p>
          <a:p>
            <a:r>
              <a:t>=====================================================</a:t>
            </a:r>
          </a:p>
          <a:p>
            <a:r>
              <a:t>Q: What is the main objective of your submission?</a:t>
            </a:r>
          </a:p>
          <a:p>
            <a:r>
              <a:t>A: To evaluate whether Quantum Multipath Routing Protection (QMRP) genuinely improves end-to-end Bell state fidelity when tested against industry-standard compilers on planar and hyperbolic lattices.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0:30 – 1:15 (45 seconds)</a:t>
            </a:r>
          </a:p>
          <a:p>
            <a:r>
              <a:t>=====================================================</a:t>
            </a:r>
          </a:p>
          <a:p>
            <a:r>
              <a:t>🎤 WHAT TO SAY (Speaker Script - Read aloud):</a:t>
            </a:r>
          </a:p>
          <a:p>
            <a:r>
              <a:t>=====================================================</a:t>
            </a:r>
          </a:p>
          <a:p>
            <a:r>
              <a:t>On physical quantum chips, qubits can only interact with adjacent neighbors. If we want to entangle two distant ports, the compiler must insert SWAP gates to move the quantum state across intermediate sites. However, every SWAP requires three physical CNOT gates. On near-term hardware with 1% gate error rates, routing a qubit just 4 or 5 hops away causes severe fidelity decay. The challenge explores a compelling idea: what if we split the traveling qubit across two parallel, disjoint paths using a two-qubit repetition code, and discard shots whenever an error is detected at the destination? And can novel hyperbolic processor geometries make this multipath approach practical?</a:t>
            </a:r>
          </a:p>
          <a:p>
            <a:endParaRPr/>
          </a:p>
          <a:p>
            <a:r>
              <a:t>=====================================================</a:t>
            </a:r>
          </a:p>
          <a:p>
            <a:r>
              <a:t>💡 SUBTEXT FOR YOUR UNDERSTANDING (Do NOT read aloud):</a:t>
            </a:r>
          </a:p>
          <a:p>
            <a:r>
              <a:t>=====================================================</a:t>
            </a:r>
          </a:p>
          <a:p>
            <a:r>
              <a:t>Intuition: SWAPs are noisy because each takes 3 CNOTs. QMRP sends 2 copies down separate paths to catch bit-flips.</a:t>
            </a:r>
          </a:p>
          <a:p>
            <a:endParaRPr/>
          </a:p>
          <a:p>
            <a:r>
              <a:t>=====================================================</a:t>
            </a:r>
          </a:p>
          <a:p>
            <a:r>
              <a:t>❓ ANTICIPATED JUDGE QUESTIONS &amp; QUICK REPLIES:</a:t>
            </a:r>
          </a:p>
          <a:p>
            <a:r>
              <a:t>=====================================================</a:t>
            </a:r>
          </a:p>
          <a:p>
            <a:r>
              <a:t>Q: Why are SWAP gates such a problem in NISQ?</a:t>
            </a:r>
          </a:p>
          <a:p>
            <a:r>
              <a:t>A: SWAPs aren't physical hardware primitives; each SWAP decomposes into 3 CNOT gates, tripling two-qubit gate errors along the path.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1:15 – 2:00 (45 seconds)</a:t>
            </a:r>
          </a:p>
          <a:p>
            <a:r>
              <a:t>=====================================================</a:t>
            </a:r>
          </a:p>
          <a:p>
            <a:r>
              <a:t>🎤 WHAT TO SAY (Speaker Script - Read aloud):</a:t>
            </a:r>
          </a:p>
          <a:p>
            <a:r>
              <a:t>=====================================================</a:t>
            </a:r>
          </a:p>
          <a:p>
            <a:r>
              <a:t>To evaluate this question systematically, we built a fully reproducible benchmark suite powered by Qiskit. We used Qiskit Aer with realistic calibration noise models, including IBM's 127-qubit FakeSherbrooke and seeded GenericBackendV2 instances. All circuits were compiled to superconducting native gates—Rz, √X, and CX—using Qiskit's PassManager at optimization level 3. Crucially, before executing any noisy shot measurements, every compiled circuit underwent an exact mathematical statevector audit. All circuits achieved an exact ideal Bell fidelity of 1.000000, confirming zero compilation bugs before introducing noise.</a:t>
            </a:r>
          </a:p>
          <a:p>
            <a:endParaRPr/>
          </a:p>
          <a:p>
            <a:r>
              <a:t>=====================================================</a:t>
            </a:r>
          </a:p>
          <a:p>
            <a:r>
              <a:t>💡 SUBTEXT FOR YOUR UNDERSTANDING (Do NOT read aloud):</a:t>
            </a:r>
          </a:p>
          <a:p>
            <a:r>
              <a:t>=====================================================</a:t>
            </a:r>
          </a:p>
          <a:p>
            <a:r>
              <a:t>Fulfills Deliverable 01. Emphasize that statevector verification proved 100% ideal correctness before noise was added.</a:t>
            </a:r>
          </a:p>
          <a:p>
            <a:endParaRPr/>
          </a:p>
          <a:p>
            <a:r>
              <a:t>=====================================================</a:t>
            </a:r>
          </a:p>
          <a:p>
            <a:r>
              <a:t>❓ ANTICIPATED JUDGE QUESTIONS &amp; QUICK REPLIES:</a:t>
            </a:r>
          </a:p>
          <a:p>
            <a:r>
              <a:t>=====================================================</a:t>
            </a:r>
          </a:p>
          <a:p>
            <a:r>
              <a:t>Q: Did you run on real hardware?</a:t>
            </a:r>
          </a:p>
          <a:p>
            <a:r>
              <a:t>A: No, we ran on realistic local Aer simulators as recommended by the challenge guidelines to ensure controlled, reproducible comparisons without queue drift.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2:00 – 2:45 (45 seconds)</a:t>
            </a:r>
          </a:p>
          <a:p>
            <a:r>
              <a:t>=====================================================</a:t>
            </a:r>
          </a:p>
          <a:p>
            <a:r>
              <a:t>🎤 WHAT TO SAY (Speaker Script - Read aloud):</a:t>
            </a:r>
          </a:p>
          <a:p>
            <a:r>
              <a:t>=====================================================</a:t>
            </a:r>
          </a:p>
          <a:p>
            <a:r>
              <a:t>Here is our approach: Quantum Multipath Routing Protection. Instead of sending a single qubit down one noisy line of SWAPs, we encode it across two physical rails using a CNOT gate. Both rails travel along completely separate hardware paths to Port B. At the destination, a decoding CNOT checks if they still match. If a bit-flip error hit either rail during transit, the syndrome ancilla flips to 1, and we discard that shot. We measure fidelity across three bases—XX, YY, and ZZ—using the standard Bell formula: (1 + XX - YY + ZZ)/4. Crucially, we also optimized compiler movement: because empty routing ancillas start in clean zero states, moving a qubit into an empty wire only takes two CNOTs instead of three, cutting routing noise by up to 50%.</a:t>
            </a:r>
          </a:p>
          <a:p>
            <a:endParaRPr/>
          </a:p>
          <a:p>
            <a:r>
              <a:t>=====================================================</a:t>
            </a:r>
          </a:p>
          <a:p>
            <a:r>
              <a:t>💡 SUBTEXT FOR YOUR UNDERSTANDING (Do NOT read aloud):</a:t>
            </a:r>
          </a:p>
          <a:p>
            <a:r>
              <a:t>=====================================================</a:t>
            </a:r>
          </a:p>
          <a:p>
            <a:r>
              <a:t>Intuition: F = (1 + XX - YY + ZZ)/4. Ideal = 1.0. Noise pushes numbers toward 0. Parity throws away bit-flip errors.</a:t>
            </a:r>
          </a:p>
          <a:p>
            <a:endParaRPr/>
          </a:p>
          <a:p>
            <a:r>
              <a:t>=====================================================</a:t>
            </a:r>
          </a:p>
          <a:p>
            <a:r>
              <a:t>❓ ANTICIPATED JUDGE QUESTIONS &amp; QUICK REPLIES:</a:t>
            </a:r>
          </a:p>
          <a:p>
            <a:r>
              <a:t>=====================================================</a:t>
            </a:r>
          </a:p>
          <a:p>
            <a:r>
              <a:t>Q: Can QMRP correct errors or just detect them?</a:t>
            </a:r>
          </a:p>
          <a:p>
            <a:r>
              <a:t>A: It detects them. QMRP uses postselection, discarding corrupted shots rather than performing active feedback.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2:45 – 3:30 (45 seconds)</a:t>
            </a:r>
          </a:p>
          <a:p>
            <a:r>
              <a:t>=====================================================</a:t>
            </a:r>
          </a:p>
          <a:p>
            <a:r>
              <a:t>🎤 WHAT TO SAY (Speaker Script - Read aloud):</a:t>
            </a:r>
          </a:p>
          <a:p>
            <a:r>
              <a:t>=====================================================</a:t>
            </a:r>
          </a:p>
          <a:p>
            <a:r>
              <a:t>Our first benchmark processor is the 2016 Five-Node reference. In the original 2016 tree topology, there is only one acyclic path between ports 0 and 4, making disjoint multipath routing topologically impossible. To test QMRP at 5-qubit scale, we used a 5-node cycle topology. This creates two disjoint paths: Path 1 goes 0 to 1 to 4, while Path 2 goes 0 to 1 to 2 to 3 to 4. As shown in the transpiled circuit below, baselines require just 1 SWAP at depth 8 using 3 physical qubits. QMRP requires 2 SWAPs at depth 11, utilizing all 5 physical qubits with a 98% acceptance yield.</a:t>
            </a:r>
          </a:p>
          <a:p>
            <a:endParaRPr/>
          </a:p>
          <a:p>
            <a:r>
              <a:t>=====================================================</a:t>
            </a:r>
          </a:p>
          <a:p>
            <a:r>
              <a:t>💡 SUBTEXT FOR YOUR UNDERSTANDING (Do NOT read aloud):</a:t>
            </a:r>
          </a:p>
          <a:p>
            <a:r>
              <a:t>=====================================================</a:t>
            </a:r>
          </a:p>
          <a:p>
            <a:r>
              <a:t>Fulfills Deliverable 02 for Processor 1. Ample space for both the 5-node graph and its transpiled circuit.</a:t>
            </a:r>
          </a:p>
          <a:p>
            <a:endParaRPr/>
          </a:p>
          <a:p>
            <a:r>
              <a:t>=====================================================</a:t>
            </a:r>
          </a:p>
          <a:p>
            <a:r>
              <a:t>❓ ANTICIPATED JUDGE QUESTIONS &amp; QUICK REPLIES:</a:t>
            </a:r>
          </a:p>
          <a:p>
            <a:r>
              <a:t>=====================================================</a:t>
            </a:r>
          </a:p>
          <a:p>
            <a:r>
              <a:t>Q: Why did you modify the original 2016 tree graph?</a:t>
            </a:r>
          </a:p>
          <a:p>
            <a:r>
              <a:t>A: The original tree has no alternate paths between ports 0 and 4. The cycle topology preserves the 5-qubit scale while enabling two vertex-disjoint routes.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3:30 – 4:15 (45 seconds)</a:t>
            </a:r>
          </a:p>
          <a:p>
            <a:r>
              <a:t>=====================================================</a:t>
            </a:r>
          </a:p>
          <a:p>
            <a:r>
              <a:t>🎤 WHAT TO SAY (Speaker Script - Read aloud):</a:t>
            </a:r>
          </a:p>
          <a:p>
            <a:r>
              <a:t>=====================================================</a:t>
            </a:r>
          </a:p>
          <a:p>
            <a:r>
              <a:t>Our second processor is IBM's 127-qubit Heavy-Hex architecture, using calibration data from FakeSherbrooke. This represents commercial superconducting processors, characterized by low node degree—mostly degree 2 and 3. Between ports 0 and 14, this low connectivity creates a severe planar bottleneck: forcing two disjoint paths pushes the second rail far into peripheral qubits, requiring 8 SWAPs instead of 4. While SABRE optimizes circuit depth down to 30, QMRP's depth balloons to 113, and shot yield drops to 87.4%.</a:t>
            </a:r>
          </a:p>
          <a:p>
            <a:endParaRPr/>
          </a:p>
          <a:p>
            <a:r>
              <a:t>=====================================================</a:t>
            </a:r>
          </a:p>
          <a:p>
            <a:r>
              <a:t>💡 SUBTEXT FOR YOUR UNDERSTANDING (Do NOT read aloud):</a:t>
            </a:r>
          </a:p>
          <a:p>
            <a:r>
              <a:t>=====================================================</a:t>
            </a:r>
          </a:p>
          <a:p>
            <a:r>
              <a:t>Fulfills Deliverable 02 for Processor 2. Highlights the planar routing bottleneck of IBM Heavy-Hex chips.</a:t>
            </a:r>
          </a:p>
          <a:p>
            <a:endParaRPr/>
          </a:p>
          <a:p>
            <a:r>
              <a:t>=====================================================</a:t>
            </a:r>
          </a:p>
          <a:p>
            <a:r>
              <a:t>❓ ANTICIPATED JUDGE QUESTIONS &amp; QUICK REPLIES:</a:t>
            </a:r>
          </a:p>
          <a:p>
            <a:r>
              <a:t>=====================================================</a:t>
            </a:r>
          </a:p>
          <a:p>
            <a:r>
              <a:t>Q: Why did QMRP perform poorly on Heavy-Hex?</a:t>
            </a:r>
          </a:p>
          <a:p>
            <a:r>
              <a:t>A: The low degree of planar heavy-hex grids forces multipath rails into long peripheral detours, accumulating excess SWAP gate noise.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4:15 – 5:00 (45 seconds)</a:t>
            </a:r>
          </a:p>
          <a:p>
            <a:r>
              <a:t>=====================================================</a:t>
            </a:r>
          </a:p>
          <a:p>
            <a:r>
              <a:t>🎤 WHAT TO SAY (Speaker Script - Read aloud):</a:t>
            </a:r>
          </a:p>
          <a:p>
            <a:r>
              <a:t>=====================================================</a:t>
            </a:r>
          </a:p>
          <a:p>
            <a:r>
              <a:t>Our third processor is the star of the challenge: an 85-qubit Hyperbolic {7,3} lattice, generated using the open-source HYPERTILING library developed by Ahmed Adel Mahmoud and Professor Steven Rayan at quanTA. Hyperbolic geometry has negative spatial curvature: area expands exponentially with radius rather than quadratically. This creates abundant, short alternative paths between distant ports 0 and 84, making it theoretically ideal for multipath routing. On this chip, SABRE achieved the highest overall fidelity of 0.9258 at depth 22. QMRP achieved 0.9208 at depth 93 with 90.7% yield.</a:t>
            </a:r>
          </a:p>
          <a:p>
            <a:endParaRPr/>
          </a:p>
          <a:p>
            <a:r>
              <a:t>=====================================================</a:t>
            </a:r>
          </a:p>
          <a:p>
            <a:r>
              <a:t>💡 SUBTEXT FOR YOUR UNDERSTANDING (Do NOT read aloud):</a:t>
            </a:r>
          </a:p>
          <a:p>
            <a:r>
              <a:t>=====================================================</a:t>
            </a:r>
          </a:p>
          <a:p>
            <a:r>
              <a:t>Fulfills Deliverable 02 for Processor 3. Emphasize that hyperbolic geometry solves spatial congestion.</a:t>
            </a:r>
          </a:p>
          <a:p>
            <a:endParaRPr/>
          </a:p>
          <a:p>
            <a:r>
              <a:t>=====================================================</a:t>
            </a:r>
          </a:p>
          <a:p>
            <a:r>
              <a:t>❓ ANTICIPATED JUDGE QUESTIONS &amp; QUICK REPLIES:</a:t>
            </a:r>
          </a:p>
          <a:p>
            <a:r>
              <a:t>=====================================================</a:t>
            </a:r>
          </a:p>
          <a:p>
            <a:r>
              <a:t>Q: How was the hyperbolic lattice generated?</a:t>
            </a:r>
          </a:p>
          <a:p>
            <a:r>
              <a:t>A: Using the HYPERTILING package, which generates heptagonal tilings in the hyperbolic Poincaré disk, frozen in JSON for reproducibility.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5:00 – 5:45 (45 seconds)</a:t>
            </a:r>
          </a:p>
          <a:p>
            <a:r>
              <a:t>=====================================================</a:t>
            </a:r>
          </a:p>
          <a:p>
            <a:r>
              <a:t>🎤 WHAT TO SAY (Speaker Script - Read aloud):</a:t>
            </a:r>
          </a:p>
          <a:p>
            <a:r>
              <a:t>=====================================================</a:t>
            </a:r>
          </a:p>
          <a:p>
            <a:r>
              <a:t>To evaluate QMRP fairly, we didn't compare it against a single naive baseline. We tested three distinct routing paradigms: Method A is Shortest Path, minimizing physical hops. Method B is SABRE, Qiskit's state-of-the-art lookahead router designed to minimize circuit depth. Method C is Noise-Aware routing, inspired by the ASPLOS 2019 paper by Murali and collaborators, which steers routes around noisy physical links based on calibration data. We also built a novel Simulation-Assisted variant, C-MC, which pre-screens candidate paths using noisy trial shots on the simulator. On the Hyperbolic lattice, C-MC prevented an overly conservative detour, improving fidelity from 0.9028 up to 0.9185! Benchmarking against multiple competitive baselines is essential: it avoids strawman comparisons and proves whether QMRP offers a genuine advantage.</a:t>
            </a:r>
          </a:p>
          <a:p>
            <a:endParaRPr/>
          </a:p>
          <a:p>
            <a:r>
              <a:t>=====================================================</a:t>
            </a:r>
          </a:p>
          <a:p>
            <a:r>
              <a:t>💡 SUBTEXT FOR YOUR UNDERSTANDING (Do NOT read aloud):</a:t>
            </a:r>
          </a:p>
          <a:p>
            <a:r>
              <a:t>=====================================================</a:t>
            </a:r>
          </a:p>
          <a:p>
            <a:r>
              <a:t>Fulfills Deliverable 04 requirement: 'Why multiple baselines were evaluated'. Highlight C-MC trial shot pre-screening.</a:t>
            </a:r>
          </a:p>
          <a:p>
            <a:endParaRPr/>
          </a:p>
          <a:p>
            <a:r>
              <a:t>=====================================================</a:t>
            </a:r>
          </a:p>
          <a:p>
            <a:r>
              <a:t>❓ ANTICIPATED JUDGE QUESTIONS &amp; QUICK REPLIES:</a:t>
            </a:r>
          </a:p>
          <a:p>
            <a:r>
              <a:t>=====================================================</a:t>
            </a:r>
          </a:p>
          <a:p>
            <a:r>
              <a:t>Q: What is the difference between Method C and Method C-MC?</a:t>
            </a:r>
          </a:p>
          <a:p>
            <a:r>
              <a:t>A: Method C uses static calibration logs to compute a theoretical path cost, while C-MC uses Monte Carlo trial shots on the simulator to discover the highest-fidelity route empirically.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5:45 – 6:35 (50 seconds)</a:t>
            </a:r>
          </a:p>
          <a:p>
            <a:r>
              <a:t>=====================================================</a:t>
            </a:r>
          </a:p>
          <a:p>
            <a:r>
              <a:t>🎤 WHAT TO SAY (Speaker Script - Read aloud):</a:t>
            </a:r>
          </a:p>
          <a:p>
            <a:r>
              <a:t>=====================================================</a:t>
            </a:r>
          </a:p>
          <a:p>
            <a:r>
              <a:t>Here are the quantitative results across all core cases audited with 3,072 shots per algorithm: On the Five-Node graph, baselines achieve 0.9751 fidelity with depth 8. QMRP reaches 0.9711 with depth 11 and 98% yield. On IBM Heavy-Hex, SABRE keeps circuit depth down to 30. QMRP reaches 0.7709, but circuit depth balloons to 113, and yield drops to 87.4%. On the Hyperbolic lattice, SABRE achieves the highest overall fidelity of 0.9258 at a minimal depth of 22. Simulation-Assisted Noise-Aware (C-MC) achieved 0.9185, while QMRP achieved 0.9208 at depth 93 with 90.7% acceptance. As explicitly required by the rubric, we tracked physical qubits: QMRP uses 5 qubits on the 5-node chip (100%), 8 qubits on IBM Heavy-Hex (6.3%), and 9 qubits on Hyperbolic (10.6%). Across all processors, QMRP's gate overhead cancels out the postselection gain, failing to beat single-path SABRE.</a:t>
            </a:r>
          </a:p>
          <a:p>
            <a:endParaRPr/>
          </a:p>
          <a:p>
            <a:r>
              <a:t>=====================================================</a:t>
            </a:r>
          </a:p>
          <a:p>
            <a:r>
              <a:t>💡 SUBTEXT FOR YOUR UNDERSTANDING (Do NOT read aloud):</a:t>
            </a:r>
          </a:p>
          <a:p>
            <a:r>
              <a:t>=====================================================</a:t>
            </a:r>
          </a:p>
          <a:p>
            <a:r>
              <a:t>Fulfills Deliverables 03 and 04. Emphasize that confidence intervals for SABRE and QMRP overlap.</a:t>
            </a:r>
          </a:p>
          <a:p>
            <a:endParaRPr/>
          </a:p>
          <a:p>
            <a:r>
              <a:t>=====================================================</a:t>
            </a:r>
          </a:p>
          <a:p>
            <a:r>
              <a:t>❓ ANTICIPATED JUDGE QUESTIONS &amp; QUICK REPLIES:</a:t>
            </a:r>
          </a:p>
          <a:p>
            <a:r>
              <a:t>=====================================================</a:t>
            </a:r>
          </a:p>
          <a:p>
            <a:r>
              <a:t>Q: Did QMRP beat SABRE on the Hyperbolic lattice?</a:t>
            </a:r>
          </a:p>
          <a:p>
            <a:r>
              <a:t>A: No, SABRE achieved 0.9258 while QMRP achieved 0.9208. Their 95% confidence intervals overlap ([0.8447, 0.9786] vs [0.8548, 0.9968]).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6:35 – 7:20 (45 seconds)</a:t>
            </a:r>
          </a:p>
          <a:p>
            <a:r>
              <a:t>=====================================================</a:t>
            </a:r>
          </a:p>
          <a:p>
            <a:r>
              <a:t>🎤 WHAT TO SAY (Speaker Script - Read aloud):</a:t>
            </a:r>
          </a:p>
          <a:p>
            <a:r>
              <a:t>=====================================================</a:t>
            </a:r>
          </a:p>
          <a:p>
            <a:r>
              <a:t>Why didn't QMRP beat SABRE? The answer lies in the quantum noise physics of what this code detects versus what it misses. Within its own circuit, postselection works as mathematically designed: on the Hyperbolic chip, raw unpostselected fidelity is 0.8564. When we discard the 9.3% failing shots, fidelity jumps to 0.9208—a lift of over 6 percentage points! It successfully purifies single Pauli X bit-flips. However, this simple repetition code has fundamental blind spots: First, it is completely blind to phase-flip (Z) errors. Z errors commute right through CNOT gates and leave the syndrome at 0. Second, the stationary reference qubit at Port A sits idle waiting for both rails to travel, accumulating thermal relaxation. And third, the extra CNOT gates used to encode and decode introduce new faults directly into the state.</a:t>
            </a:r>
          </a:p>
          <a:p>
            <a:endParaRPr/>
          </a:p>
          <a:p>
            <a:r>
              <a:t>=====================================================</a:t>
            </a:r>
          </a:p>
          <a:p>
            <a:r>
              <a:t>💡 SUBTEXT FOR YOUR UNDERSTANDING (Do NOT read aloud):</a:t>
            </a:r>
          </a:p>
          <a:p>
            <a:r>
              <a:t>=====================================================</a:t>
            </a:r>
          </a:p>
          <a:p>
            <a:r>
              <a:t>Fulfills Deliverable 04. Bit-flips (X) are caught, but phase dephasing (Z) slips right past undetected.</a:t>
            </a:r>
          </a:p>
          <a:p>
            <a:endParaRPr/>
          </a:p>
          <a:p>
            <a:r>
              <a:t>=====================================================</a:t>
            </a:r>
          </a:p>
          <a:p>
            <a:r>
              <a:t>❓ ANTICIPATED JUDGE QUESTIONS &amp; QUICK REPLIES:</a:t>
            </a:r>
          </a:p>
          <a:p>
            <a:r>
              <a:t>=====================================================</a:t>
            </a:r>
          </a:p>
          <a:p>
            <a:r>
              <a:t>Q: Can QMRP protect against phase errors?</a:t>
            </a:r>
          </a:p>
          <a:p>
            <a:r>
              <a:t>A: Not in its current form. Protecting against phase errors requires a full CSS code with dual syndromes, which requires significantly more qubits and gates.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7:20 – 8:05 (45 seconds)</a:t>
            </a:r>
          </a:p>
          <a:p>
            <a:r>
              <a:t>=====================================================</a:t>
            </a:r>
          </a:p>
          <a:p>
            <a:r>
              <a:t>🎤 WHAT TO SAY (Speaker Script - Read aloud):</a:t>
            </a:r>
          </a:p>
          <a:p>
            <a:r>
              <a:t>=====================================================</a:t>
            </a:r>
          </a:p>
          <a:p>
            <a:r>
              <a:t>Based on our results, here is our key recommendation for future quantum cloud systems: Cloud compilers should NEVER enable multipath repetition protection as a default transport mechanism. Instead, compilers should implement a Geometry- and Distance-Aware Selective Routing Policy: For distances of 4 hops or fewer, compilers should strictly enforce single-path noise-adaptive routing like SABRE. Multipath postselection should only be exposed as an opt-in pass for long-distance transport on high-connectivity architectures like hyperbolic lattices, provided the user can tolerate a 10 to 15 percent shot discard penalty. This ensures that users only pay the gate and shot-yield overhead when physical geometry genuinely warrants it.</a:t>
            </a:r>
          </a:p>
          <a:p>
            <a:endParaRPr/>
          </a:p>
          <a:p>
            <a:r>
              <a:t>=====================================================</a:t>
            </a:r>
          </a:p>
          <a:p>
            <a:r>
              <a:t>💡 SUBTEXT FOR YOUR UNDERSTANDING (Do NOT read aloud):</a:t>
            </a:r>
          </a:p>
          <a:p>
            <a:r>
              <a:t>=====================================================</a:t>
            </a:r>
          </a:p>
          <a:p>
            <a:r>
              <a:t>Fulfills Deliverable 05 (Hardware or Software Recommendation). Deliver with confidence.</a:t>
            </a:r>
          </a:p>
          <a:p>
            <a:endParaRPr/>
          </a:p>
          <a:p>
            <a:r>
              <a:t>=====================================================</a:t>
            </a:r>
          </a:p>
          <a:p>
            <a:r>
              <a:t>❓ ANTICIPATED JUDGE QUESTIONS &amp; QUICK REPLIES:</a:t>
            </a:r>
          </a:p>
          <a:p>
            <a:r>
              <a:t>=====================================================</a:t>
            </a:r>
          </a:p>
          <a:p>
            <a:r>
              <a:t>Q: Under what hardware conditions would QMRP clearly beat SABRE?</a:t>
            </a:r>
          </a:p>
          <a:p>
            <a:r>
              <a:t>A: If physical two-qubit gate fidelity improves (e.g. error &lt; 0.01%) while qubit routing paths remain long, the encoding/decoding gate penalty would shrink, allowing the parity postselection gain to dominate.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TARGET TIME: 8:05 – 8:35 (30 seconds)</a:t>
            </a:r>
          </a:p>
          <a:p>
            <a:r>
              <a:t>=====================================================</a:t>
            </a:r>
          </a:p>
          <a:p>
            <a:r>
              <a:t>🎤 WHAT TO SAY (Speaker Script - Read aloud):</a:t>
            </a:r>
          </a:p>
          <a:p>
            <a:r>
              <a:t>=====================================================</a:t>
            </a:r>
          </a:p>
          <a:p>
            <a:r>
              <a:t>Looking forward, we aim to extend this work to dual-syndrome CSS surface codes that protect against both bit-flips and phase-flips during routing, and test arbitrary multi-qubit circuits. We want to thank our host quanTA, Professor Steven Rayan, and the organizers. Thank you so much, and we welcome any questions!</a:t>
            </a:r>
          </a:p>
          <a:p>
            <a:endParaRPr/>
          </a:p>
          <a:p>
            <a:r>
              <a:t>=====================================================</a:t>
            </a:r>
          </a:p>
          <a:p>
            <a:r>
              <a:t>💡 SUBTEXT FOR YOUR UNDERSTANDING (Do NOT read aloud):</a:t>
            </a:r>
          </a:p>
          <a:p>
            <a:r>
              <a:t>=====================================================</a:t>
            </a:r>
          </a:p>
          <a:p>
            <a:r>
              <a:t>Conclude with energy and open for questions. Total presentation time is 8 minutes 35 seconds.</a:t>
            </a:r>
          </a:p>
          <a:p>
            <a:endParaRPr/>
          </a:p>
          <a:p>
            <a:r>
              <a:t>=====================================================</a:t>
            </a:r>
          </a:p>
          <a:p>
            <a:r>
              <a:t>❓ ANTICIPATED JUDGE QUESTIONS &amp; QUICK REPLIES:</a:t>
            </a:r>
          </a:p>
          <a:p>
            <a:r>
              <a:t>=====================================================</a:t>
            </a:r>
          </a:p>
          <a:p>
            <a:r>
              <a:t>Q: Thank you for your presentation!</a:t>
            </a:r>
          </a:p>
          <a:p>
            <a:r>
              <a:t>A: Thank you! We are happy to walk through any specific circuit or data point.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09728" cy="4114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97280"/>
            <a:ext cx="10058400" cy="2785378"/>
          </a:xfrm>
          <a:prstGeom prst="rect">
            <a:avLst/>
          </a:prstGeom>
          <a:noFill/>
        </p:spPr>
        <p:txBody>
          <a:bodyPr wrap="square">
            <a:spAutoFit/>
          </a:bodyPr>
          <a:lstStyle/>
          <a:p>
            <a:pPr>
              <a:defRPr sz="1300" b="1">
                <a:solidFill>
                  <a:srgbClr val="2563EB"/>
                </a:solidFill>
                <a:latin typeface="Calibri"/>
              </a:defRPr>
            </a:pPr>
            <a:r>
              <a:rPr dirty="0"/>
              <a:t>QISKIT FALL FEST 2026 CHALLENGE: HYPERBOLIC FUTURES</a:t>
            </a:r>
          </a:p>
          <a:p>
            <a:pPr>
              <a:defRPr sz="3600" b="1">
                <a:solidFill>
                  <a:srgbClr val="0F172A"/>
                </a:solidFill>
                <a:latin typeface="Calibri"/>
              </a:defRPr>
            </a:pPr>
            <a:r>
              <a:rPr dirty="0" err="1"/>
              <a:t>QWeave</a:t>
            </a:r>
            <a:r>
              <a:rPr dirty="0"/>
              <a:t>: Geometry-Aware Quantum Routing</a:t>
            </a:r>
            <a:br>
              <a:rPr dirty="0"/>
            </a:br>
            <a:r>
              <a:rPr dirty="0"/>
              <a:t>&amp; Parity </a:t>
            </a:r>
            <a:r>
              <a:rPr dirty="0" err="1"/>
              <a:t>Postselection</a:t>
            </a:r>
            <a:endParaRPr dirty="0"/>
          </a:p>
          <a:p>
            <a:br>
              <a:rPr dirty="0"/>
            </a:br>
            <a:r>
              <a:rPr dirty="0"/>
              <a:t>Auditing Quantum Multipath Routing Protection (QMRP) across 2016, Heavy-Hex &amp; Hyperbolic Lattices</a:t>
            </a:r>
          </a:p>
          <a:p>
            <a:br>
              <a:rPr dirty="0"/>
            </a:br>
            <a:r>
              <a:rPr dirty="0"/>
              <a:t>Team Members: Aaron Huang  •  Calvin Cheng  •  Bhaskar Mahajan </a:t>
            </a:r>
            <a:br>
              <a:rPr lang="en-GB" dirty="0"/>
            </a:br>
            <a:r>
              <a:rPr dirty="0"/>
              <a:t>Host: </a:t>
            </a:r>
            <a:r>
              <a:rPr dirty="0" err="1"/>
              <a:t>quanTA</a:t>
            </a:r>
            <a:r>
              <a:rPr dirty="0"/>
              <a:t>, University of Saskatchewan (Prof. Steven Rayan)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01 CHALLENGE MOTIVATION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The NISQ Routing Bottleneck: Noise vs. Connectivity</a:t>
            </a:r>
          </a:p>
          <a:p>
            <a:pPr>
              <a:defRPr sz="1200">
                <a:solidFill>
                  <a:srgbClr val="475569"/>
                </a:solidFill>
                <a:latin typeface="Calibri"/>
              </a:defRPr>
            </a:pPr>
            <a:r>
              <a:t>Why long-distance entanglement distribution is the fundamental scaling bottleneck in quantum hardware.</a:t>
            </a:r>
          </a:p>
        </p:txBody>
      </p:sp>
      <p:sp>
        <p:nvSpPr>
          <p:cNvPr id="5" name="Rounded Rectangle 4"/>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4572000" cy="4572000"/>
          </a:xfrm>
          <a:prstGeom prst="rect">
            <a:avLst/>
          </a:prstGeom>
          <a:noFill/>
        </p:spPr>
        <p:txBody>
          <a:bodyPr wrap="square">
            <a:spAutoFit/>
          </a:bodyPr>
          <a:lstStyle/>
          <a:p>
            <a:pPr>
              <a:defRPr sz="1800" b="1">
                <a:solidFill>
                  <a:srgbClr val="0F172A"/>
                </a:solidFill>
              </a:defRPr>
            </a:pPr>
            <a:r>
              <a:t>The Physical Routing Bottleneck</a:t>
            </a:r>
          </a:p>
          <a:p>
            <a:br/>
            <a:r>
              <a:t>• Limited Physical Connectivity: </a:t>
            </a:r>
          </a:p>
          <a:p>
            <a:pPr>
              <a:defRPr sz="1200">
                <a:solidFill>
                  <a:srgbClr val="475569"/>
                </a:solidFill>
              </a:defRPr>
            </a:pPr>
            <a:r>
              <a:t>Qubits only interact with immediate physical neighbors. Entangling distant ports requires cascades of intermediate SWAP gates.</a:t>
            </a:r>
          </a:p>
          <a:p>
            <a:br/>
            <a:r>
              <a:t>• Compounding Gate Noise: </a:t>
            </a:r>
          </a:p>
          <a:p>
            <a:pPr>
              <a:defRPr sz="1200">
                <a:solidFill>
                  <a:srgbClr val="475569"/>
                </a:solidFill>
              </a:defRPr>
            </a:pPr>
            <a:r>
              <a:t>Every SWAP requires 3 native CNOT gates. A 4-hop route demands 12 physical two-qubit operations, accumulating severe depolarizing and dephasing noise.</a:t>
            </a:r>
          </a:p>
          <a:p>
            <a:br/>
            <a:r>
              <a:t>• The Scaling Trap: </a:t>
            </a:r>
          </a:p>
          <a:p>
            <a:pPr>
              <a:defRPr sz="1200">
                <a:solidFill>
                  <a:srgbClr val="475569"/>
                </a:solidFill>
              </a:defRPr>
            </a:pPr>
            <a:r>
              <a:t>As chip sizes scale to hundreds of qubits, routing noise rapidly destroys output entanglement.</a:t>
            </a:r>
          </a:p>
        </p:txBody>
      </p:sp>
      <p:sp>
        <p:nvSpPr>
          <p:cNvPr id="7" name="Rounded Rectangle 6"/>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554480"/>
            <a:ext cx="4663440" cy="4572000"/>
          </a:xfrm>
          <a:prstGeom prst="rect">
            <a:avLst/>
          </a:prstGeom>
          <a:noFill/>
        </p:spPr>
        <p:txBody>
          <a:bodyPr wrap="square">
            <a:spAutoFit/>
          </a:bodyPr>
          <a:lstStyle/>
          <a:p>
            <a:pPr>
              <a:defRPr sz="1800" b="1">
                <a:solidFill>
                  <a:srgbClr val="2563EB"/>
                </a:solidFill>
              </a:defRPr>
            </a:pPr>
            <a:r>
              <a:t>The Core Research Question</a:t>
            </a:r>
          </a:p>
          <a:p>
            <a:br/>
            <a:r>
              <a:t>• Quantum Multipath Routing (QMRP): </a:t>
            </a:r>
          </a:p>
          <a:p>
            <a:pPr>
              <a:defRPr sz="1200">
                <a:solidFill>
                  <a:srgbClr val="475569"/>
                </a:solidFill>
              </a:defRPr>
            </a:pPr>
            <a:r>
              <a:t>Can encoding a traveling qubit across TWO parallel disjoint paths and checking parity at the destination protect fidelity?</a:t>
            </a:r>
          </a:p>
          <a:p>
            <a:br/>
            <a:r>
              <a:t>• Hyperbolic Geometry: </a:t>
            </a:r>
          </a:p>
          <a:p>
            <a:pPr>
              <a:defRPr sz="1200">
                <a:solidFill>
                  <a:srgbClr val="475569"/>
                </a:solidFill>
              </a:defRPr>
            </a:pPr>
            <a:r>
              <a:t>Do hyperbolic lattices—with exponential boundary growth and high connectivity—provide the ideal architecture for multipath routing?</a:t>
            </a:r>
          </a:p>
          <a:p>
            <a:br/>
            <a:r>
              <a:t>• The Trade-off Dilemma: </a:t>
            </a:r>
          </a:p>
          <a:p>
            <a:pPr>
              <a:defRPr sz="1200">
                <a:solidFill>
                  <a:srgbClr val="475569"/>
                </a:solidFill>
              </a:defRPr>
            </a:pPr>
            <a:r>
              <a:t>Does parity postselection improve fidelity enough to justify the extra SWAP gates and discarded shot yield?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02 EXPERIMENTAL ARCHITECTURE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Simulation Rigor &amp; Extensive Qiskit API Integration</a:t>
            </a:r>
          </a:p>
          <a:p>
            <a:pPr>
              <a:defRPr sz="1200">
                <a:solidFill>
                  <a:srgbClr val="475569"/>
                </a:solidFill>
                <a:latin typeface="Calibri"/>
              </a:defRPr>
            </a:pPr>
            <a:r>
              <a:t>Deliverable 01: Executing on Qiskit Aer simulators under reproducible, seeded physical noise models.</a:t>
            </a:r>
          </a:p>
        </p:txBody>
      </p:sp>
      <p:sp>
        <p:nvSpPr>
          <p:cNvPr id="5" name="Rounded Rectangle 4"/>
          <p:cNvSpPr/>
          <p:nvPr/>
        </p:nvSpPr>
        <p:spPr>
          <a:xfrm>
            <a:off x="731520" y="1371600"/>
            <a:ext cx="34747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554480"/>
            <a:ext cx="3017520" cy="4480560"/>
          </a:xfrm>
          <a:prstGeom prst="rect">
            <a:avLst/>
          </a:prstGeom>
          <a:noFill/>
        </p:spPr>
        <p:txBody>
          <a:bodyPr wrap="square">
            <a:spAutoFit/>
          </a:bodyPr>
          <a:lstStyle/>
          <a:p>
            <a:pPr>
              <a:defRPr sz="1600" b="1">
                <a:solidFill>
                  <a:srgbClr val="0F172A"/>
                </a:solidFill>
              </a:defRPr>
            </a:pPr>
            <a:r>
              <a:t>Qiskit Simulation Engine</a:t>
            </a:r>
          </a:p>
          <a:p>
            <a:br/>
            <a:r>
              <a:t>• Local Aer Emulation: </a:t>
            </a:r>
          </a:p>
          <a:p>
            <a:pPr>
              <a:defRPr sz="1100">
                <a:solidFill>
                  <a:srgbClr val="475569"/>
                </a:solidFill>
              </a:defRPr>
            </a:pPr>
            <a:r>
              <a:t>Executed on local Qiskit Aer simulators (`AerSimulator`) to eliminate cloud queue latency and drift.</a:t>
            </a:r>
          </a:p>
          <a:p>
            <a:br/>
            <a:r>
              <a:t>• Fixed Seed Control: </a:t>
            </a:r>
          </a:p>
          <a:p>
            <a:pPr>
              <a:defRPr sz="1100">
                <a:solidFill>
                  <a:srgbClr val="475569"/>
                </a:solidFill>
              </a:defRPr>
            </a:pPr>
            <a:r>
              <a:t>Master simulation seed (`42`) and backend seed (`1234`) guarantee 100% deterministic reproducibility.</a:t>
            </a:r>
          </a:p>
          <a:p>
            <a:br/>
            <a:r>
              <a:t>• Locked Dependencies: </a:t>
            </a:r>
          </a:p>
          <a:p>
            <a:pPr>
              <a:defRPr sz="1100">
                <a:solidFill>
                  <a:srgbClr val="475569"/>
                </a:solidFill>
              </a:defRPr>
            </a:pPr>
            <a:r>
              <a:t>Pinned environment managed with Python 3.12+ and `uv`.</a:t>
            </a:r>
          </a:p>
        </p:txBody>
      </p:sp>
      <p:sp>
        <p:nvSpPr>
          <p:cNvPr id="7" name="Rounded Rectangle 6"/>
          <p:cNvSpPr/>
          <p:nvPr/>
        </p:nvSpPr>
        <p:spPr>
          <a:xfrm>
            <a:off x="4343400" y="1371600"/>
            <a:ext cx="34747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554480"/>
            <a:ext cx="3017520" cy="4480560"/>
          </a:xfrm>
          <a:prstGeom prst="rect">
            <a:avLst/>
          </a:prstGeom>
          <a:noFill/>
        </p:spPr>
        <p:txBody>
          <a:bodyPr wrap="square">
            <a:spAutoFit/>
          </a:bodyPr>
          <a:lstStyle/>
          <a:p>
            <a:pPr>
              <a:defRPr sz="1600" b="1">
                <a:solidFill>
                  <a:srgbClr val="0F172A"/>
                </a:solidFill>
              </a:defRPr>
            </a:pPr>
            <a:r>
              <a:t>Hardware Noise Models</a:t>
            </a:r>
          </a:p>
          <a:p>
            <a:br/>
            <a:r>
              <a:t>• IBM FakeSherbrooke: </a:t>
            </a:r>
          </a:p>
          <a:p>
            <a:pPr>
              <a:defRPr sz="1100">
                <a:solidFill>
                  <a:srgbClr val="475569"/>
                </a:solidFill>
              </a:defRPr>
            </a:pPr>
            <a:r>
              <a:t>127-qubit heavy-hex backend snapshot with real calibration error profiles (T1, T2, readout error).</a:t>
            </a:r>
          </a:p>
          <a:p>
            <a:br/>
            <a:r>
              <a:t>• GenericBackendV2: </a:t>
            </a:r>
          </a:p>
          <a:p>
            <a:pPr>
              <a:defRPr sz="1100">
                <a:solidFill>
                  <a:srgbClr val="475569"/>
                </a:solidFill>
              </a:defRPr>
            </a:pPr>
            <a:r>
              <a:t>Synthetic seeded calibration backends for custom five-node and hyperbolic graphs.</a:t>
            </a:r>
          </a:p>
          <a:p>
            <a:br/>
            <a:r>
              <a:t>• Native Gate Basis: </a:t>
            </a:r>
          </a:p>
          <a:p>
            <a:pPr>
              <a:defRPr sz="1100">
                <a:solidFill>
                  <a:srgbClr val="475569"/>
                </a:solidFill>
              </a:defRPr>
            </a:pPr>
            <a:r>
              <a:t>Strict compilation to superconducting basis: `rz`, `sx`, `cx`.</a:t>
            </a:r>
          </a:p>
        </p:txBody>
      </p:sp>
      <p:sp>
        <p:nvSpPr>
          <p:cNvPr id="9" name="Rounded Rectangle 8"/>
          <p:cNvSpPr/>
          <p:nvPr/>
        </p:nvSpPr>
        <p:spPr>
          <a:xfrm>
            <a:off x="7955280" y="1371600"/>
            <a:ext cx="34747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83880" y="1554480"/>
            <a:ext cx="3017520" cy="4480560"/>
          </a:xfrm>
          <a:prstGeom prst="rect">
            <a:avLst/>
          </a:prstGeom>
          <a:noFill/>
        </p:spPr>
        <p:txBody>
          <a:bodyPr wrap="square">
            <a:spAutoFit/>
          </a:bodyPr>
          <a:lstStyle/>
          <a:p>
            <a:pPr>
              <a:defRPr sz="1600" b="1">
                <a:solidFill>
                  <a:srgbClr val="0F172A"/>
                </a:solidFill>
              </a:defRPr>
            </a:pPr>
            <a:r>
              <a:t>Exact State Verification</a:t>
            </a:r>
          </a:p>
          <a:p>
            <a:br/>
            <a:r>
              <a:t>• Zero-Tolerance Audit: </a:t>
            </a:r>
          </a:p>
          <a:p>
            <a:pPr>
              <a:defRPr sz="1100">
                <a:solidFill>
                  <a:srgbClr val="475569"/>
                </a:solidFill>
              </a:defRPr>
            </a:pPr>
            <a:r>
              <a:t>Before running noisy sampling, every circuit was verified via exact statevector simulation (`bell_fidelity`).</a:t>
            </a:r>
          </a:p>
          <a:p>
            <a:br/>
            <a:r>
              <a:t>• Ideal Proof: </a:t>
            </a:r>
          </a:p>
          <a:p>
            <a:pPr>
              <a:defRPr sz="1100">
                <a:solidFill>
                  <a:srgbClr val="475569"/>
                </a:solidFill>
              </a:defRPr>
            </a:pPr>
            <a:r>
              <a:t>All circuits achieve exactly 1.000000000000 ideal fidelity, proving algorithmic correctness.</a:t>
            </a:r>
          </a:p>
          <a:p>
            <a:br/>
            <a:r>
              <a:t>• PassManager Level 3: </a:t>
            </a:r>
          </a:p>
          <a:p>
            <a:pPr>
              <a:defRPr sz="1100">
                <a:solidFill>
                  <a:srgbClr val="475569"/>
                </a:solidFill>
              </a:defRPr>
            </a:pPr>
            <a:r>
              <a:t>Used `generate_preset_pass_manager` with phase-preserving barrier boundaries.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03 METHODOLOGY &amp; PROTECTION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Our Approach: Quantum Multipath Routing Protection (QMRP)</a:t>
            </a:r>
          </a:p>
          <a:p>
            <a:pPr>
              <a:defRPr sz="1200">
                <a:solidFill>
                  <a:srgbClr val="475569"/>
                </a:solidFill>
                <a:latin typeface="Calibri"/>
              </a:defRPr>
            </a:pPr>
            <a:r>
              <a:t>Encoding Bell states across two physical rails, checking parity at destination, and optimizing movement.</a:t>
            </a:r>
          </a:p>
        </p:txBody>
      </p:sp>
      <p:sp>
        <p:nvSpPr>
          <p:cNvPr id="5" name="Rounded Rectangle 4"/>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4572000" cy="4572000"/>
          </a:xfrm>
          <a:prstGeom prst="rect">
            <a:avLst/>
          </a:prstGeom>
          <a:noFill/>
        </p:spPr>
        <p:txBody>
          <a:bodyPr wrap="square">
            <a:spAutoFit/>
          </a:bodyPr>
          <a:lstStyle/>
          <a:p>
            <a:pPr>
              <a:defRPr sz="1700" b="1">
                <a:solidFill>
                  <a:srgbClr val="0F172A"/>
                </a:solidFill>
              </a:defRPr>
            </a:pPr>
            <a:r>
              <a:t>How QMRP Operates</a:t>
            </a:r>
          </a:p>
          <a:p>
            <a:br/>
            <a:r>
              <a:t>• 1. Bell Pair Generation: </a:t>
            </a:r>
          </a:p>
          <a:p>
            <a:pPr>
              <a:defRPr sz="1000">
                <a:solidFill>
                  <a:srgbClr val="475569"/>
                </a:solidFill>
              </a:defRPr>
            </a:pPr>
            <a:r>
              <a:t>Create entanglement at Port A: H on port A, CX to local launch qubit.</a:t>
            </a:r>
          </a:p>
          <a:p>
            <a:br/>
            <a:r>
              <a:t>• 2. Two-Rail Repetition Encoding: </a:t>
            </a:r>
          </a:p>
          <a:p>
            <a:pPr>
              <a:defRPr sz="1000">
                <a:solidFill>
                  <a:srgbClr val="475569"/>
                </a:solidFill>
              </a:defRPr>
            </a:pPr>
            <a:r>
              <a:t>A local CX copies the traveling state onto two physical rails: |0⟩ → |00⟩ and |1⟩ → |11⟩.</a:t>
            </a:r>
          </a:p>
          <a:p>
            <a:br/>
            <a:r>
              <a:t>• 3. Disjoint Dual-Rail Transport: </a:t>
            </a:r>
          </a:p>
          <a:p>
            <a:pPr>
              <a:defRPr sz="1000">
                <a:solidFill>
                  <a:srgbClr val="475569"/>
                </a:solidFill>
              </a:defRPr>
            </a:pPr>
            <a:r>
              <a:t>Rail 1 and Rail 2 travel along completely separate hardware paths.</a:t>
            </a:r>
          </a:p>
          <a:p>
            <a:br/>
            <a:r>
              <a:t>• 4. Decoding &amp; Parity Postselection: </a:t>
            </a:r>
          </a:p>
          <a:p>
            <a:pPr>
              <a:defRPr sz="1000">
                <a:solidFill>
                  <a:srgbClr val="475569"/>
                </a:solidFill>
              </a:defRPr>
            </a:pPr>
            <a:r>
              <a:t>Destination CX decodes to Port B and flips a syndrome ancilla (S) to |1⟩ if rails mismatch.</a:t>
            </a:r>
          </a:p>
          <a:p>
            <a:br/>
            <a:r>
              <a:t>• 5. Shot Filtering: </a:t>
            </a:r>
          </a:p>
          <a:p>
            <a:pPr>
              <a:defRPr sz="1000">
                <a:solidFill>
                  <a:srgbClr val="475569"/>
                </a:solidFill>
              </a:defRPr>
            </a:pPr>
            <a:r>
              <a:t>Measure syndrome S in Z basis. If S=0, accept shot. If S=1 (error detected), discard shot!</a:t>
            </a:r>
          </a:p>
        </p:txBody>
      </p:sp>
      <p:sp>
        <p:nvSpPr>
          <p:cNvPr id="7" name="Rounded Rectangle 6"/>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554480"/>
            <a:ext cx="4663440" cy="4572000"/>
          </a:xfrm>
          <a:prstGeom prst="rect">
            <a:avLst/>
          </a:prstGeom>
          <a:noFill/>
        </p:spPr>
        <p:txBody>
          <a:bodyPr wrap="square">
            <a:spAutoFit/>
          </a:bodyPr>
          <a:lstStyle/>
          <a:p>
            <a:pPr>
              <a:defRPr sz="1700" b="1">
                <a:solidFill>
                  <a:srgbClr val="7C3AED"/>
                </a:solidFill>
              </a:defRPr>
            </a:pPr>
            <a:r>
              <a:t>Accessible Math &amp; Optimization</a:t>
            </a:r>
          </a:p>
          <a:p>
            <a:br/>
            <a:r>
              <a:t>• Bell State Fidelity Formula:</a:t>
            </a:r>
          </a:p>
          <a:p>
            <a:pPr>
              <a:defRPr sz="1000">
                <a:solidFill>
                  <a:srgbClr val="475569"/>
                </a:solidFill>
              </a:defRPr>
            </a:pPr>
            <a:r>
              <a:t>F(Φ⁺) = (1 + ⟨XX⟩ - ⟨YY⟩ + ⟨ZZ⟩) / 4</a:t>
            </a:r>
            <a:br/>
            <a:r>
              <a:t>Measured across 3 complementary Pauli bases (XX, YY, ZZ).</a:t>
            </a:r>
            <a:br/>
            <a:r>
              <a:t>Ideal: (1 + 1 - (-1) + 1)/4 = 1.0 (100% fidelity). Physical noise pushes expectation values toward 0, reducing fidelity.</a:t>
            </a:r>
          </a:p>
          <a:p>
            <a:br/>
            <a:r>
              <a:t>• How Parity Traps Bit-Flips:</a:t>
            </a:r>
          </a:p>
          <a:p>
            <a:pPr>
              <a:defRPr sz="1000">
                <a:solidFill>
                  <a:srgbClr val="475569"/>
                </a:solidFill>
              </a:defRPr>
            </a:pPr>
            <a:r>
              <a:t>Both rails start in identical states (|00⟩ + |11⟩). If an X bit-flip occurs on Rail 1 during transit, the state becomes |10⟩ + |01⟩.</a:t>
            </a:r>
            <a:br/>
            <a:r>
              <a:t>The decoder detects this mismatch, flips syndrome S to |1⟩, and the shot is rejected.</a:t>
            </a:r>
          </a:p>
          <a:p>
            <a:br/>
            <a:r>
              <a:t>• Zero-Input Movement Optimization:</a:t>
            </a:r>
          </a:p>
          <a:p>
            <a:pPr>
              <a:defRPr sz="1000">
                <a:solidFill>
                  <a:srgbClr val="475569"/>
                </a:solidFill>
              </a:defRPr>
            </a:pPr>
            <a:r>
              <a:t>Standard SWAP = 3 CNOTs. But routing ancillas start clean in |0⟩!</a:t>
            </a:r>
            <a:br/>
            <a:r>
              <a:t>Moving into an empty |0⟩ wire requires only 2 CNOTs, cutting movement gate overhead by 33% to 50%!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04 HARDWARE BENCHMARK 1</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Processor 1: 2016 Five-Node Reference (Multipath Cycle)</a:t>
            </a:r>
          </a:p>
          <a:p>
            <a:pPr>
              <a:defRPr sz="1200">
                <a:solidFill>
                  <a:srgbClr val="475569"/>
                </a:solidFill>
                <a:latin typeface="Calibri"/>
              </a:defRPr>
            </a:pPr>
            <a:r>
              <a:t>Deliverable 02: 5-qubit testbed with ports (0, 4) enabling disjoint multipath routing at minimal scale.</a:t>
            </a:r>
          </a:p>
        </p:txBody>
      </p:sp>
      <p:sp>
        <p:nvSpPr>
          <p:cNvPr id="5" name="Rounded Rectangle 4"/>
          <p:cNvSpPr/>
          <p:nvPr/>
        </p:nvSpPr>
        <p:spPr>
          <a:xfrm>
            <a:off x="731520" y="137160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44752"/>
            <a:ext cx="10332720" cy="914400"/>
          </a:xfrm>
          <a:prstGeom prst="rect">
            <a:avLst/>
          </a:prstGeom>
          <a:noFill/>
        </p:spPr>
        <p:txBody>
          <a:bodyPr wrap="square">
            <a:spAutoFit/>
          </a:bodyPr>
          <a:lstStyle/>
          <a:p>
            <a:pPr>
              <a:defRPr sz="1400" b="1">
                <a:solidFill>
                  <a:srgbClr val="0F172A"/>
                </a:solidFill>
              </a:defRPr>
            </a:pPr>
            <a:r>
              <a:t>Topology &amp; Circuit Overview: Five-Node Multipath Cycle</a:t>
            </a:r>
          </a:p>
          <a:p>
            <a:pPr>
              <a:defRPr sz="1100">
                <a:solidFill>
                  <a:srgbClr val="475569"/>
                </a:solidFill>
              </a:defRPr>
            </a:pPr>
            <a:r>
              <a:t>• Ports: (0, 4)  |  Chip Capacity: 5 Qubits  |  Connectivity: ((0,1), (1,2), (2,3), (3,4), (4,1))</a:t>
            </a:r>
            <a:br/>
            <a:r>
              <a:t>• Disjoint Paths: Path 1 (0→1→4, length 2) vs. Path 2 (0→1→2→3→4, length 4). Enables multipath benchmarking at minimal scale.</a:t>
            </a:r>
            <a:br/>
            <a:r>
              <a:t>• Execution: Baselines use 1 SWAP (depth 8, 3/5 qubits). QMRP uses 2 SWAPs (depth 11, 5/5 qubits, 98.05% acceptance).</a:t>
            </a:r>
          </a:p>
        </p:txBody>
      </p:sp>
      <p:pic>
        <p:nvPicPr>
          <p:cNvPr id="9" name="Picture 8">
            <a:extLst>
              <a:ext uri="{FF2B5EF4-FFF2-40B4-BE49-F238E27FC236}">
                <a16:creationId xmlns:a16="http://schemas.microsoft.com/office/drawing/2014/main" id="{C46E6D61-8E73-208E-DF0D-2FF4A33B2A9A}"/>
              </a:ext>
            </a:extLst>
          </p:cNvPr>
          <p:cNvPicPr>
            <a:picLocks noChangeAspect="1"/>
          </p:cNvPicPr>
          <p:nvPr/>
        </p:nvPicPr>
        <p:blipFill>
          <a:blip r:embed="rId3"/>
          <a:stretch>
            <a:fillRect/>
          </a:stretch>
        </p:blipFill>
        <p:spPr>
          <a:xfrm>
            <a:off x="2706107" y="2953407"/>
            <a:ext cx="6779480" cy="32828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05 HARDWARE BENCHMARK 2</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Processor 2: IBM Heavy-Hex Architecture (FakeSherbrooke)</a:t>
            </a:r>
          </a:p>
          <a:p>
            <a:pPr>
              <a:defRPr sz="1200">
                <a:solidFill>
                  <a:srgbClr val="475569"/>
                </a:solidFill>
                <a:latin typeface="Calibri"/>
              </a:defRPr>
            </a:pPr>
            <a:r>
              <a:t>Deliverable 02: 127-qubit commercial planar layout with ports (0, 14) modeling realistic hardware bottlenecks.</a:t>
            </a:r>
          </a:p>
        </p:txBody>
      </p:sp>
      <p:sp>
        <p:nvSpPr>
          <p:cNvPr id="5" name="Rounded Rectangle 4"/>
          <p:cNvSpPr/>
          <p:nvPr/>
        </p:nvSpPr>
        <p:spPr>
          <a:xfrm>
            <a:off x="731520" y="137160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44752"/>
            <a:ext cx="10332720" cy="914400"/>
          </a:xfrm>
          <a:prstGeom prst="rect">
            <a:avLst/>
          </a:prstGeom>
          <a:noFill/>
        </p:spPr>
        <p:txBody>
          <a:bodyPr wrap="square">
            <a:spAutoFit/>
          </a:bodyPr>
          <a:lstStyle/>
          <a:p>
            <a:pPr>
              <a:defRPr sz="1400" b="1">
                <a:solidFill>
                  <a:srgbClr val="0F172A"/>
                </a:solidFill>
              </a:defRPr>
            </a:pPr>
            <a:r>
              <a:t>Topology &amp; Circuit Overview: IBM 127-Qubit Heavy-Hex</a:t>
            </a:r>
          </a:p>
          <a:p>
            <a:pPr>
              <a:defRPr sz="1100">
                <a:solidFill>
                  <a:srgbClr val="475569"/>
                </a:solidFill>
              </a:defRPr>
            </a:pPr>
            <a:r>
              <a:t>• Ports: (0, 14)  |  Chip Capacity: 127 Qubits  |  Layout: Low average degree (2–3) planar heavy-hex lattice</a:t>
            </a:r>
            <a:br/>
            <a:r>
              <a:t>• Planar Congestion: Narrow corridors force the second rail into wide peripheral detours (8 SWAPs vs. 4 SWAPs for baselines).</a:t>
            </a:r>
            <a:br/>
            <a:r>
              <a:t>• Execution: SABRE achieves depth 30 with 6/127 qubits. QMRP depth balloons to 113 with 8/127 qubits (87.43% acceptance yield).</a:t>
            </a:r>
          </a:p>
        </p:txBody>
      </p:sp>
      <p:pic>
        <p:nvPicPr>
          <p:cNvPr id="9" name="Picture 8">
            <a:extLst>
              <a:ext uri="{FF2B5EF4-FFF2-40B4-BE49-F238E27FC236}">
                <a16:creationId xmlns:a16="http://schemas.microsoft.com/office/drawing/2014/main" id="{93B9BB1D-E1E8-62C5-5F4F-C4715E7DD6DC}"/>
              </a:ext>
            </a:extLst>
          </p:cNvPr>
          <p:cNvPicPr>
            <a:picLocks noChangeAspect="1"/>
          </p:cNvPicPr>
          <p:nvPr/>
        </p:nvPicPr>
        <p:blipFill>
          <a:blip r:embed="rId3"/>
          <a:stretch>
            <a:fillRect/>
          </a:stretch>
        </p:blipFill>
        <p:spPr>
          <a:xfrm>
            <a:off x="2464890" y="2827349"/>
            <a:ext cx="7261914" cy="36648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06 HARDWARE BENCHMARK 3</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Processor 3: Hyperbolic Lattice {7,3} (85 Qubits)</a:t>
            </a:r>
          </a:p>
          <a:p>
            <a:pPr>
              <a:defRPr sz="1200">
                <a:solidFill>
                  <a:srgbClr val="475569"/>
                </a:solidFill>
                <a:latin typeface="Calibri"/>
              </a:defRPr>
            </a:pPr>
            <a:r>
              <a:t>Deliverable 02: Regular heptagonal tiling with exponential boundary growth and abundant short disjoint paths.</a:t>
            </a:r>
          </a:p>
        </p:txBody>
      </p:sp>
      <p:sp>
        <p:nvSpPr>
          <p:cNvPr id="5" name="Rounded Rectangle 4"/>
          <p:cNvSpPr/>
          <p:nvPr/>
        </p:nvSpPr>
        <p:spPr>
          <a:xfrm>
            <a:off x="731520" y="137160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44752"/>
            <a:ext cx="10332720" cy="914400"/>
          </a:xfrm>
          <a:prstGeom prst="rect">
            <a:avLst/>
          </a:prstGeom>
          <a:noFill/>
        </p:spPr>
        <p:txBody>
          <a:bodyPr wrap="square">
            <a:spAutoFit/>
          </a:bodyPr>
          <a:lstStyle/>
          <a:p>
            <a:pPr>
              <a:defRPr sz="1400" b="1">
                <a:solidFill>
                  <a:srgbClr val="0F172A"/>
                </a:solidFill>
              </a:defRPr>
            </a:pPr>
            <a:r>
              <a:t>Topology &amp; Circuit Overview: Hyperbolic {7,3} Poincaré Disk</a:t>
            </a:r>
          </a:p>
          <a:p>
            <a:pPr>
              <a:defRPr sz="1100">
                <a:solidFill>
                  <a:srgbClr val="475569"/>
                </a:solidFill>
              </a:defRPr>
            </a:pPr>
            <a:r>
              <a:t>• Ports: (0, 84)  |  Chip Capacity: 85 Qubits  |  Generated via HYPERTILING (Mahmoud &amp; Rayan, quanTA USask)</a:t>
            </a:r>
            <a:br/>
            <a:r>
              <a:t>• Negative Curvature Advantage: Area expands exponentially, creating abundant alternative disjoint paths without spatial detours!</a:t>
            </a:r>
            <a:br/>
            <a:r>
              <a:t>• Execution: SABRE achieves 0.9258 fidelity (depth 22, 7/85 qubits). QMRP achieves 0.9208 (depth 93, 9/85 qubits, 90.69% yield).</a:t>
            </a:r>
          </a:p>
        </p:txBody>
      </p:sp>
      <p:pic>
        <p:nvPicPr>
          <p:cNvPr id="9" name="Picture 8">
            <a:extLst>
              <a:ext uri="{FF2B5EF4-FFF2-40B4-BE49-F238E27FC236}">
                <a16:creationId xmlns:a16="http://schemas.microsoft.com/office/drawing/2014/main" id="{FD7F7C41-15EF-0EA3-D947-66814210F86B}"/>
              </a:ext>
            </a:extLst>
          </p:cNvPr>
          <p:cNvPicPr>
            <a:picLocks noChangeAspect="1"/>
          </p:cNvPicPr>
          <p:nvPr/>
        </p:nvPicPr>
        <p:blipFill>
          <a:blip r:embed="rId3"/>
          <a:stretch>
            <a:fillRect/>
          </a:stretch>
        </p:blipFill>
        <p:spPr>
          <a:xfrm>
            <a:off x="2704828" y="2736088"/>
            <a:ext cx="6782344" cy="37561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07 BENCHMARK METHODOLOGY</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rPr dirty="0"/>
              <a:t>Deliverable 04: Why We Evaluated Multiple Routing Baselines</a:t>
            </a:r>
          </a:p>
          <a:p>
            <a:pPr>
              <a:defRPr sz="1200">
                <a:solidFill>
                  <a:srgbClr val="475569"/>
                </a:solidFill>
                <a:latin typeface="Calibri"/>
              </a:defRPr>
            </a:pPr>
            <a:r>
              <a:rPr dirty="0"/>
              <a:t>Benchmarking against industry-standard lookahead and calibration-adaptive routing to avoid strawman comparisons.</a:t>
            </a:r>
          </a:p>
        </p:txBody>
      </p:sp>
      <p:sp>
        <p:nvSpPr>
          <p:cNvPr id="5" name="Rounded Rectangle 4"/>
          <p:cNvSpPr/>
          <p:nvPr/>
        </p:nvSpPr>
        <p:spPr>
          <a:xfrm>
            <a:off x="731520" y="1371600"/>
            <a:ext cx="25603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54480"/>
            <a:ext cx="2194560" cy="4480560"/>
          </a:xfrm>
          <a:prstGeom prst="rect">
            <a:avLst/>
          </a:prstGeom>
          <a:noFill/>
        </p:spPr>
        <p:txBody>
          <a:bodyPr wrap="square">
            <a:spAutoFit/>
          </a:bodyPr>
          <a:lstStyle/>
          <a:p>
            <a:pPr>
              <a:defRPr sz="1400" b="1">
                <a:solidFill>
                  <a:srgbClr val="2563EB"/>
                </a:solidFill>
              </a:defRPr>
            </a:pPr>
            <a:r>
              <a:t>Method A: Shortest Path</a:t>
            </a:r>
          </a:p>
          <a:p>
            <a:br/>
            <a:r>
              <a:t>• Concept: </a:t>
            </a:r>
          </a:p>
          <a:p>
            <a:pPr>
              <a:defRPr sz="1000">
                <a:solidFill>
                  <a:srgbClr val="475569"/>
                </a:solidFill>
              </a:defRPr>
            </a:pPr>
            <a:r>
              <a:t>Dijkstra minimum hop count.</a:t>
            </a:r>
          </a:p>
          <a:p>
            <a:br/>
            <a:r>
              <a:t>• Strengths: </a:t>
            </a:r>
          </a:p>
          <a:p>
            <a:pPr>
              <a:defRPr sz="1000">
                <a:solidFill>
                  <a:srgbClr val="475569"/>
                </a:solidFill>
              </a:defRPr>
            </a:pPr>
            <a:r>
              <a:t>Minimal compile time; topological shortest path.</a:t>
            </a:r>
          </a:p>
          <a:p>
            <a:br/>
            <a:r>
              <a:t>• Limitation: </a:t>
            </a:r>
          </a:p>
          <a:p>
            <a:pPr>
              <a:defRPr sz="1000">
                <a:solidFill>
                  <a:srgbClr val="475569"/>
                </a:solidFill>
              </a:defRPr>
            </a:pPr>
            <a:r>
              <a:t>Blind to hardware calibration noise; may route through bad links.</a:t>
            </a:r>
          </a:p>
        </p:txBody>
      </p:sp>
      <p:sp>
        <p:nvSpPr>
          <p:cNvPr id="7" name="Rounded Rectangle 6"/>
          <p:cNvSpPr/>
          <p:nvPr/>
        </p:nvSpPr>
        <p:spPr>
          <a:xfrm>
            <a:off x="3429000" y="1371600"/>
            <a:ext cx="25603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1554480"/>
            <a:ext cx="2194560" cy="4480560"/>
          </a:xfrm>
          <a:prstGeom prst="rect">
            <a:avLst/>
          </a:prstGeom>
          <a:noFill/>
        </p:spPr>
        <p:txBody>
          <a:bodyPr wrap="square">
            <a:spAutoFit/>
          </a:bodyPr>
          <a:lstStyle/>
          <a:p>
            <a:pPr>
              <a:defRPr sz="1400" b="1">
                <a:solidFill>
                  <a:srgbClr val="7C3AED"/>
                </a:solidFill>
              </a:defRPr>
            </a:pPr>
            <a:r>
              <a:t>Method B: SABRE Routing</a:t>
            </a:r>
          </a:p>
          <a:p>
            <a:br/>
            <a:r>
              <a:t>• Concept: </a:t>
            </a:r>
          </a:p>
          <a:p>
            <a:pPr>
              <a:defRPr sz="1000">
                <a:solidFill>
                  <a:srgbClr val="475569"/>
                </a:solidFill>
              </a:defRPr>
            </a:pPr>
            <a:r>
              <a:t>Qiskit's industry-standard SabreSwap with decay lookahead.</a:t>
            </a:r>
          </a:p>
          <a:p>
            <a:br/>
            <a:r>
              <a:t>• Strengths: </a:t>
            </a:r>
          </a:p>
          <a:p>
            <a:pPr>
              <a:defRPr sz="1000">
                <a:solidFill>
                  <a:srgbClr val="475569"/>
                </a:solidFill>
              </a:defRPr>
            </a:pPr>
            <a:r>
              <a:t>Optimizes global circuit depth and SWAP count via lookahead.</a:t>
            </a:r>
          </a:p>
          <a:p>
            <a:br/>
            <a:r>
              <a:t>• Limitation: </a:t>
            </a:r>
          </a:p>
          <a:p>
            <a:pPr>
              <a:defRPr sz="1000">
                <a:solidFill>
                  <a:srgbClr val="475569"/>
                </a:solidFill>
              </a:defRPr>
            </a:pPr>
            <a:r>
              <a:t>Does not explicitly optimize for calibrated gate error rates.</a:t>
            </a:r>
          </a:p>
        </p:txBody>
      </p:sp>
      <p:sp>
        <p:nvSpPr>
          <p:cNvPr id="9" name="Rounded Rectangle 8"/>
          <p:cNvSpPr/>
          <p:nvPr/>
        </p:nvSpPr>
        <p:spPr>
          <a:xfrm>
            <a:off x="6126480" y="1371600"/>
            <a:ext cx="25603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554480"/>
            <a:ext cx="2194560" cy="4480560"/>
          </a:xfrm>
          <a:prstGeom prst="rect">
            <a:avLst/>
          </a:prstGeom>
          <a:noFill/>
        </p:spPr>
        <p:txBody>
          <a:bodyPr wrap="square">
            <a:spAutoFit/>
          </a:bodyPr>
          <a:lstStyle/>
          <a:p>
            <a:pPr>
              <a:defRPr sz="1400" b="1">
                <a:solidFill>
                  <a:srgbClr val="0D9488"/>
                </a:solidFill>
              </a:defRPr>
            </a:pPr>
            <a:r>
              <a:t>Method C &amp; C-MC: Noise-Aware</a:t>
            </a:r>
          </a:p>
          <a:p>
            <a:br/>
            <a:r>
              <a:t>• C (Static Calibration): </a:t>
            </a:r>
          </a:p>
          <a:p>
            <a:pPr>
              <a:defRPr sz="1000">
                <a:solidFill>
                  <a:srgbClr val="475569"/>
                </a:solidFill>
              </a:defRPr>
            </a:pPr>
            <a:r>
              <a:t>ASPLOS '19 (Murali et al.) weights edges by -log(1 - ε_gate).</a:t>
            </a:r>
          </a:p>
          <a:p>
            <a:br/>
            <a:r>
              <a:t>• C-MC (Simulation-Assisted): </a:t>
            </a:r>
          </a:p>
          <a:p>
            <a:pPr>
              <a:defRPr sz="1000">
                <a:solidFill>
                  <a:srgbClr val="475569"/>
                </a:solidFill>
              </a:defRPr>
            </a:pPr>
            <a:r>
              <a:t>Pre-screens candidate paths using Monte Carlo trial shots on the simulator to discover best route empirically!</a:t>
            </a:r>
          </a:p>
          <a:p>
            <a:br/>
            <a:r>
              <a:t>• Key Impact: </a:t>
            </a:r>
          </a:p>
          <a:p>
            <a:pPr>
              <a:defRPr sz="1000">
                <a:solidFill>
                  <a:srgbClr val="475569"/>
                </a:solidFill>
              </a:defRPr>
            </a:pPr>
            <a:r>
              <a:t>On Hyperbolic, C-MC avoided bad detours (6 vs 7 SWAPs), lifting fidelity from 0.9028 to 0.9185.</a:t>
            </a:r>
          </a:p>
        </p:txBody>
      </p:sp>
      <p:sp>
        <p:nvSpPr>
          <p:cNvPr id="11" name="Rounded Rectangle 10"/>
          <p:cNvSpPr/>
          <p:nvPr/>
        </p:nvSpPr>
        <p:spPr>
          <a:xfrm>
            <a:off x="8823960" y="1371600"/>
            <a:ext cx="25603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06840" y="1554480"/>
            <a:ext cx="2194560" cy="4480560"/>
          </a:xfrm>
          <a:prstGeom prst="rect">
            <a:avLst/>
          </a:prstGeom>
          <a:noFill/>
        </p:spPr>
        <p:txBody>
          <a:bodyPr wrap="square">
            <a:spAutoFit/>
          </a:bodyPr>
          <a:lstStyle/>
          <a:p>
            <a:pPr>
              <a:defRPr sz="1400" b="1">
                <a:solidFill>
                  <a:srgbClr val="D97706"/>
                </a:solidFill>
              </a:defRPr>
            </a:pPr>
            <a:r>
              <a:t>Method D: QMRP Protected</a:t>
            </a:r>
          </a:p>
          <a:p>
            <a:br/>
            <a:r>
              <a:t>• Concept: </a:t>
            </a:r>
          </a:p>
          <a:p>
            <a:pPr>
              <a:defRPr sz="1000">
                <a:solidFill>
                  <a:srgbClr val="475569"/>
                </a:solidFill>
              </a:defRPr>
            </a:pPr>
            <a:r>
              <a:t>Two-rail repetition encoding with destination parity postselection.</a:t>
            </a:r>
          </a:p>
          <a:p>
            <a:br/>
            <a:r>
              <a:t>• Mechanism: </a:t>
            </a:r>
          </a:p>
          <a:p>
            <a:pPr>
              <a:defRPr sz="1000">
                <a:solidFill>
                  <a:srgbClr val="475569"/>
                </a:solidFill>
              </a:defRPr>
            </a:pPr>
            <a:r>
              <a:t>Encodes state on 2 rails; discards shots if parity syndrome = 1.</a:t>
            </a:r>
          </a:p>
          <a:p>
            <a:br/>
            <a:r>
              <a:t>• Limitation: </a:t>
            </a:r>
          </a:p>
          <a:p>
            <a:pPr>
              <a:defRPr sz="1000">
                <a:solidFill>
                  <a:srgbClr val="475569"/>
                </a:solidFill>
              </a:defRPr>
            </a:pPr>
            <a:r>
              <a:t>Doubles 2-qubit gate count and discards 9–13% of shots.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08 QUANTITATIVE COMPARISON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Deliverable 03: Comprehensive Benchmark Results Across All Core Cases</a:t>
            </a:r>
          </a:p>
          <a:p>
            <a:pPr>
              <a:defRPr sz="1200">
                <a:solidFill>
                  <a:srgbClr val="475569"/>
                </a:solidFill>
                <a:latin typeface="Calibri"/>
              </a:defRPr>
            </a:pPr>
            <a:r>
              <a:t>Audited under identical experimental controls: 3,072 shots per algorithm, seeds 42 / 1234.</a:t>
            </a:r>
          </a:p>
        </p:txBody>
      </p:sp>
      <p:sp>
        <p:nvSpPr>
          <p:cNvPr id="5" name="Rounded Rectangle 4"/>
          <p:cNvSpPr/>
          <p:nvPr/>
        </p:nvSpPr>
        <p:spPr>
          <a:xfrm>
            <a:off x="731520" y="1371600"/>
            <a:ext cx="40233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08760"/>
            <a:ext cx="3657600" cy="4663440"/>
          </a:xfrm>
          <a:prstGeom prst="rect">
            <a:avLst/>
          </a:prstGeom>
          <a:noFill/>
        </p:spPr>
        <p:txBody>
          <a:bodyPr wrap="square">
            <a:spAutoFit/>
          </a:bodyPr>
          <a:lstStyle/>
          <a:p>
            <a:pPr>
              <a:defRPr sz="1600" b="1">
                <a:solidFill>
                  <a:srgbClr val="0F172A"/>
                </a:solidFill>
              </a:defRPr>
            </a:pPr>
            <a:r>
              <a:t>Audit Summary (3,072 Shots)</a:t>
            </a:r>
          </a:p>
          <a:p>
            <a:br/>
            <a:r>
              <a:t>Five-Node Multipath:</a:t>
            </a:r>
          </a:p>
          <a:p>
            <a:pPr>
              <a:defRPr sz="950">
                <a:solidFill>
                  <a:srgbClr val="0F172A"/>
                </a:solidFill>
              </a:defRPr>
            </a:pPr>
            <a:r>
              <a:t>• Baselines (A, B, C, C-MC): 0.9751 | Depth: 8 | Qubits: 3/5 (60%) | Yield: 100%</a:t>
            </a:r>
            <a:br/>
            <a:r>
              <a:t>• QMRP Protected (D): 0.9711 | Depth: 11 | Qubits: 5/5 (100%) | Yield: 98.05%</a:t>
            </a:r>
          </a:p>
          <a:p>
            <a:br/>
            <a:r>
              <a:t>IBM Heavy-Hex (FakeSherbrooke):</a:t>
            </a:r>
          </a:p>
          <a:p>
            <a:pPr>
              <a:defRPr sz="950">
                <a:solidFill>
                  <a:srgbClr val="0F172A"/>
                </a:solidFill>
              </a:defRPr>
            </a:pPr>
            <a:r>
              <a:t>• Shortest (A) / Noise-Aware (C, C-MC): 0.7842 | Depth: 56 | Qubits: 6/127 (4.7%)</a:t>
            </a:r>
            <a:br/>
            <a:r>
              <a:t>• SABRE (B): 0.7710 | Depth: 30 | Qubits: 6/127 (4.7%) | Yield: 100%</a:t>
            </a:r>
            <a:br/>
            <a:r>
              <a:t>• QMRP Protected (D): 0.7709 | Depth: 113 | Qubits: 8/127 (6.3%) | Yield: 87.43%</a:t>
            </a:r>
          </a:p>
          <a:p>
            <a:br/>
            <a:r>
              <a:t>Hyperbolic {7,3} Lattice:</a:t>
            </a:r>
          </a:p>
          <a:p>
            <a:pPr>
              <a:defRPr sz="950">
                <a:solidFill>
                  <a:srgbClr val="0F172A"/>
                </a:solidFill>
              </a:defRPr>
            </a:pPr>
            <a:r>
              <a:t>• SABRE (B): 0.9258 (HIGHEST!) | Depth: 22 | Qubits: 7/85 (8.2%)</a:t>
            </a:r>
            <a:br/>
            <a:r>
              <a:t>• Shortest Path (A): 0.9219 | Depth: 34 | Qubits: 7/85 (8.2%)</a:t>
            </a:r>
            <a:br/>
            <a:r>
              <a:t>• Simulation-Assisted (C-MC): 0.9185 | Depth: 54 | Qubits: 7/85</a:t>
            </a:r>
            <a:br/>
            <a:r>
              <a:t>• Static Noise-Aware (C): 0.9028 | Depth: 58 | Qubits: 8/85</a:t>
            </a:r>
            <a:br/>
            <a:r>
              <a:t>• QMRP Protected (D): 0.9208 | Depth: 93 | Qubits: 9/85 (10.6%) | Yield: 90.69%</a:t>
            </a:r>
          </a:p>
        </p:txBody>
      </p:sp>
      <p:pic>
        <p:nvPicPr>
          <p:cNvPr id="9" name="Picture 8">
            <a:extLst>
              <a:ext uri="{FF2B5EF4-FFF2-40B4-BE49-F238E27FC236}">
                <a16:creationId xmlns:a16="http://schemas.microsoft.com/office/drawing/2014/main" id="{28DF79C0-2B45-CADF-64B7-CF481615DAF4}"/>
              </a:ext>
            </a:extLst>
          </p:cNvPr>
          <p:cNvPicPr>
            <a:picLocks noChangeAspect="1"/>
          </p:cNvPicPr>
          <p:nvPr/>
        </p:nvPicPr>
        <p:blipFill>
          <a:blip r:embed="rId3"/>
          <a:stretch>
            <a:fillRect/>
          </a:stretch>
        </p:blipFill>
        <p:spPr>
          <a:xfrm>
            <a:off x="4937760" y="1472184"/>
            <a:ext cx="7014548" cy="2486345"/>
          </a:xfrm>
          <a:prstGeom prst="rect">
            <a:avLst/>
          </a:prstGeom>
        </p:spPr>
      </p:pic>
      <p:pic>
        <p:nvPicPr>
          <p:cNvPr id="11" name="Picture 10">
            <a:extLst>
              <a:ext uri="{FF2B5EF4-FFF2-40B4-BE49-F238E27FC236}">
                <a16:creationId xmlns:a16="http://schemas.microsoft.com/office/drawing/2014/main" id="{E28F4A73-A473-F129-8B3C-7D275D2E6579}"/>
              </a:ext>
            </a:extLst>
          </p:cNvPr>
          <p:cNvPicPr>
            <a:picLocks noChangeAspect="1"/>
          </p:cNvPicPr>
          <p:nvPr/>
        </p:nvPicPr>
        <p:blipFill>
          <a:blip r:embed="rId4"/>
          <a:stretch>
            <a:fillRect/>
          </a:stretch>
        </p:blipFill>
        <p:spPr>
          <a:xfrm>
            <a:off x="5192639" y="3958529"/>
            <a:ext cx="6561296" cy="24161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09 SCIENTIFIC INTERPRETATION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Deliverable 04: What QMRP Detects vs. What It Misses</a:t>
            </a:r>
          </a:p>
          <a:p>
            <a:pPr>
              <a:defRPr sz="1200">
                <a:solidFill>
                  <a:srgbClr val="475569"/>
                </a:solidFill>
                <a:latin typeface="Calibri"/>
              </a:defRPr>
            </a:pPr>
            <a:r>
              <a:t>Unpacking the quantum noise physics behind why postselection fell short of single-path baselines.</a:t>
            </a:r>
          </a:p>
        </p:txBody>
      </p:sp>
      <p:sp>
        <p:nvSpPr>
          <p:cNvPr id="5" name="Rounded Rectangle 4"/>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4572000" cy="4572000"/>
          </a:xfrm>
          <a:prstGeom prst="rect">
            <a:avLst/>
          </a:prstGeom>
          <a:noFill/>
        </p:spPr>
        <p:txBody>
          <a:bodyPr wrap="square">
            <a:spAutoFit/>
          </a:bodyPr>
          <a:lstStyle/>
          <a:p>
            <a:pPr>
              <a:defRPr sz="1700" b="1">
                <a:solidFill>
                  <a:srgbClr val="0D9488"/>
                </a:solidFill>
              </a:defRPr>
            </a:pPr>
            <a:r>
              <a:t>What QMRP Detects (Syndrome S = 1)</a:t>
            </a:r>
          </a:p>
          <a:p>
            <a:br/>
            <a:r>
              <a:t>✔ Single Bit-Flip Errors (Pauli X):</a:t>
            </a:r>
            <a:br/>
            <a:r>
              <a:t>If an X error strikes Rail 1 or Rail 2 during transit, the destination decoder flips the syndrome qubit S to 1. The shot is discarded, successfully purifying the accepted sample pool.</a:t>
            </a:r>
          </a:p>
          <a:p>
            <a:br/>
            <a:r>
              <a:t>✔ Proof of Conditional Purification:</a:t>
            </a:r>
            <a:br/>
            <a:r>
              <a:t>Within its own circuit, postselection works:</a:t>
            </a:r>
            <a:br/>
            <a:r>
              <a:t>• Hyperbolic unpostselected fidelity: 0.8564</a:t>
            </a:r>
            <a:br/>
            <a:r>
              <a:t>• Hyperbolic postselected fidelity: 0.9208 (+0.0644 lift!)</a:t>
            </a:r>
            <a:br/>
            <a:r>
              <a:t>Filtering out the 9.31% failing shots genuinely improves output purity.</a:t>
            </a:r>
          </a:p>
        </p:txBody>
      </p:sp>
      <p:sp>
        <p:nvSpPr>
          <p:cNvPr id="7" name="Rounded Rectangle 6"/>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554480"/>
            <a:ext cx="4663440" cy="4572000"/>
          </a:xfrm>
          <a:prstGeom prst="rect">
            <a:avLst/>
          </a:prstGeom>
          <a:noFill/>
        </p:spPr>
        <p:txBody>
          <a:bodyPr wrap="square">
            <a:spAutoFit/>
          </a:bodyPr>
          <a:lstStyle/>
          <a:p>
            <a:pPr>
              <a:defRPr sz="1700" b="1">
                <a:solidFill>
                  <a:srgbClr val="D97706"/>
                </a:solidFill>
              </a:defRPr>
            </a:pPr>
            <a:r>
              <a:t>What QMRP Misses (Syndrome S = 0)</a:t>
            </a:r>
          </a:p>
          <a:p>
            <a:br/>
            <a:r>
              <a:t>• Phase-Flip Errors (Pauli Z): </a:t>
            </a:r>
          </a:p>
          <a:p>
            <a:pPr>
              <a:defRPr sz="1100">
                <a:solidFill>
                  <a:srgbClr val="475569"/>
                </a:solidFill>
              </a:defRPr>
            </a:pPr>
            <a:r>
              <a:t>Z errors commute directly through CNOT encoding/decoding gates and leave the syndrome qubit in |0⟩. Parity postselection is completely blind to dephasing!</a:t>
            </a:r>
          </a:p>
          <a:p>
            <a:br/>
            <a:r>
              <a:t>• Correlated Double Bit-Flips (X ⊗ X): </a:t>
            </a:r>
          </a:p>
          <a:p>
            <a:pPr>
              <a:defRPr sz="1100">
                <a:solidFill>
                  <a:srgbClr val="475569"/>
                </a:solidFill>
              </a:defRPr>
            </a:pPr>
            <a:r>
              <a:t>Simultaneous errors on both rails preserve even parity and pass undetected.</a:t>
            </a:r>
          </a:p>
          <a:p>
            <a:br/>
            <a:r>
              <a:t>• Idle Decoherence on Port A: </a:t>
            </a:r>
          </a:p>
          <a:p>
            <a:pPr>
              <a:defRPr sz="1100">
                <a:solidFill>
                  <a:srgbClr val="475569"/>
                </a:solidFill>
              </a:defRPr>
            </a:pPr>
            <a:r>
              <a:t>While the two rails traverse multi-hop paths, the stationary reference qubit at port A suffers idle T1/T2 thermal relaxation.</a:t>
            </a:r>
          </a:p>
          <a:p>
            <a:br/>
            <a:r>
              <a:t>• Encoding &amp; Decoding Gate Faults: </a:t>
            </a:r>
          </a:p>
          <a:p>
            <a:pPr>
              <a:defRPr sz="1100">
                <a:solidFill>
                  <a:srgbClr val="475569"/>
                </a:solidFill>
              </a:defRPr>
            </a:pPr>
            <a:r>
              <a:t>Errors occurring during the encoding and decoding CX gates directly poison the quantum state.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10 SYSTEM RECOMMENDATION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Deliverable 05: Recommendation for Future Cloud Systems</a:t>
            </a:r>
          </a:p>
          <a:p>
            <a:pPr>
              <a:defRPr sz="1200">
                <a:solidFill>
                  <a:srgbClr val="475569"/>
                </a:solidFill>
                <a:latin typeface="Calibri"/>
              </a:defRPr>
            </a:pPr>
            <a:r>
              <a:t>One actionable, data-driven design choice for future quantum compilers and cloud schedulers.</a:t>
            </a:r>
          </a:p>
        </p:txBody>
      </p:sp>
      <p:sp>
        <p:nvSpPr>
          <p:cNvPr id="5" name="Rounded Rectangle 4"/>
          <p:cNvSpPr/>
          <p:nvPr/>
        </p:nvSpPr>
        <p:spPr>
          <a:xfrm>
            <a:off x="1371600" y="1371600"/>
            <a:ext cx="9418320" cy="49377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1554480"/>
            <a:ext cx="8869680" cy="4572000"/>
          </a:xfrm>
          <a:prstGeom prst="rect">
            <a:avLst/>
          </a:prstGeom>
          <a:noFill/>
        </p:spPr>
        <p:txBody>
          <a:bodyPr wrap="square">
            <a:spAutoFit/>
          </a:bodyPr>
          <a:lstStyle/>
          <a:p>
            <a:pPr>
              <a:defRPr sz="2000" b="1">
                <a:solidFill>
                  <a:srgbClr val="2563EB"/>
                </a:solidFill>
              </a:defRPr>
            </a:pPr>
            <a:r>
              <a:t>Geometry- and Distance-Aware Selective Routing Policy</a:t>
            </a:r>
          </a:p>
          <a:p>
            <a:pPr>
              <a:defRPr sz="1300">
                <a:solidFill>
                  <a:srgbClr val="0F172A"/>
                </a:solidFill>
              </a:defRPr>
            </a:pPr>
            <a:r>
              <a:t>Quantum cloud compilers should NEVER enable multipath repetition protection as a default transport mechanism. Instead, compilers should enforce a two-tier selective routing policy:</a:t>
            </a:r>
          </a:p>
          <a:p>
            <a:br/>
            <a:r>
              <a:t>Tier 1: Short-to-Medium Distances (d ≤ 4 hops):</a:t>
            </a:r>
          </a:p>
          <a:p>
            <a:pPr>
              <a:defRPr sz="1200">
                <a:solidFill>
                  <a:srgbClr val="475569"/>
                </a:solidFill>
              </a:defRPr>
            </a:pPr>
            <a:r>
              <a:t>Enforce single-path noise-adaptive routing (e.g. SABRE or calibration-weighted Dijkstra). Over short distances, the gate and SWAP overhead of encoding, dual-rail transport, and syndrome extraction invariably exceeds the transport error rate.</a:t>
            </a:r>
          </a:p>
          <a:p>
            <a:br/>
            <a:r>
              <a:t>Tier 2: High-Connectivity Geometries (Hyperbolic Lattices, d ≥ 5 hops):</a:t>
            </a:r>
          </a:p>
          <a:p>
            <a:pPr>
              <a:defRPr sz="1200">
                <a:solidFill>
                  <a:srgbClr val="475569"/>
                </a:solidFill>
              </a:defRPr>
            </a:pPr>
            <a:r>
              <a:t>Expose multipath parity postselection as an OPT-IN compiler flag strictly when TWO criteria are met:</a:t>
            </a:r>
            <a:br/>
            <a:r>
              <a:t>  1. The user explicitly prioritizes output fidelity over runtime and can absorb a 5% to 15% shot discard penalty.</a:t>
            </a:r>
            <a:br/>
            <a:r>
              <a:t>  2. Physical two-qubit gate error rates (ε_gate) are substantially lower than cumulative link errors along the path, preventing encoding/decoding gates from dominating the noise budget.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92608"/>
          </a:xfrm>
          <a:prstGeom prst="rect">
            <a:avLst/>
          </a:prstGeom>
          <a:noFill/>
        </p:spPr>
        <p:txBody>
          <a:bodyPr wrap="square" lIns="0" tIns="0" rIns="0" bIns="0">
            <a:spAutoFit/>
          </a:bodyPr>
          <a:lstStyle/>
          <a:p>
            <a:pPr>
              <a:defRPr sz="1100" b="1">
                <a:solidFill>
                  <a:srgbClr val="2563EB"/>
                </a:solidFill>
                <a:latin typeface="Calibri"/>
              </a:defRPr>
            </a:pPr>
            <a:r>
              <a:t>11 LOOKING FORWARD</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200" b="1">
                <a:solidFill>
                  <a:srgbClr val="0F172A"/>
                </a:solidFill>
                <a:latin typeface="Calibri"/>
              </a:defRPr>
            </a:pPr>
            <a:r>
              <a:t>Future Horizons &amp; Academic References</a:t>
            </a:r>
          </a:p>
          <a:p>
            <a:pPr>
              <a:defRPr sz="1200">
                <a:solidFill>
                  <a:srgbClr val="475569"/>
                </a:solidFill>
                <a:latin typeface="Calibri"/>
              </a:defRPr>
            </a:pPr>
            <a:r>
              <a:t>Extending multipath routing towards fault-tolerant architectures and acknowledging foundational literature.</a:t>
            </a:r>
          </a:p>
        </p:txBody>
      </p:sp>
      <p:sp>
        <p:nvSpPr>
          <p:cNvPr id="5" name="Rounded Rectangle 4"/>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4572000" cy="4572000"/>
          </a:xfrm>
          <a:prstGeom prst="rect">
            <a:avLst/>
          </a:prstGeom>
          <a:noFill/>
        </p:spPr>
        <p:txBody>
          <a:bodyPr wrap="square">
            <a:spAutoFit/>
          </a:bodyPr>
          <a:lstStyle/>
          <a:p>
            <a:pPr>
              <a:defRPr sz="1800" b="1">
                <a:solidFill>
                  <a:srgbClr val="0F172A"/>
                </a:solidFill>
              </a:defRPr>
            </a:pPr>
            <a:r>
              <a:t>Future Research Directions</a:t>
            </a:r>
          </a:p>
          <a:p>
            <a:br/>
            <a:r>
              <a:t>• Full CSS Surface Encodings: </a:t>
            </a:r>
          </a:p>
          <a:p>
            <a:pPr>
              <a:defRPr sz="1100">
                <a:solidFill>
                  <a:srgbClr val="475569"/>
                </a:solidFill>
              </a:defRPr>
            </a:pPr>
            <a:r>
              <a:t>Extend beyond simple bit-flip repetition to dual-syndrome codes that detect both bit-flip (X) and phase-flip (Z) errors during routing.</a:t>
            </a:r>
          </a:p>
          <a:p>
            <a:br/>
            <a:r>
              <a:t>• Arbitrary Circuit Multi-Qubit Routing: </a:t>
            </a:r>
          </a:p>
          <a:p>
            <a:pPr>
              <a:defRPr sz="1100">
                <a:solidFill>
                  <a:srgbClr val="475569"/>
                </a:solidFill>
              </a:defRPr>
            </a:pPr>
            <a:r>
              <a:t>Generalize from 2-qubit Bell pair transport to full quantum algorithm compilation (e.g. Trotterized Hamiltonians, QAOA).</a:t>
            </a:r>
          </a:p>
          <a:p>
            <a:br/>
            <a:r>
              <a:t>• Physical Hardware Validation: </a:t>
            </a:r>
          </a:p>
          <a:p>
            <a:pPr>
              <a:defRPr sz="1100">
                <a:solidFill>
                  <a:srgbClr val="475569"/>
                </a:solidFill>
              </a:defRPr>
            </a:pPr>
            <a:r>
              <a:t>Execute the benchmark suite on physical IBM Quantum QPUs and emerging neutral-atom hyperbolic hardware platforms.</a:t>
            </a:r>
          </a:p>
        </p:txBody>
      </p:sp>
      <p:sp>
        <p:nvSpPr>
          <p:cNvPr id="7" name="Rounded Rectangle 6"/>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554480"/>
            <a:ext cx="4663440" cy="4572000"/>
          </a:xfrm>
          <a:prstGeom prst="rect">
            <a:avLst/>
          </a:prstGeom>
          <a:noFill/>
        </p:spPr>
        <p:txBody>
          <a:bodyPr wrap="square">
            <a:spAutoFit/>
          </a:bodyPr>
          <a:lstStyle/>
          <a:p>
            <a:pPr>
              <a:defRPr sz="1800" b="1">
                <a:solidFill>
                  <a:srgbClr val="7C3AED"/>
                </a:solidFill>
              </a:defRPr>
            </a:pPr>
            <a:r>
              <a:t>Foundational References</a:t>
            </a:r>
          </a:p>
          <a:p>
            <a:br/>
            <a:r>
              <a:t>• Noise-Aware Compiler Mappings (ASPLOS '19)</a:t>
            </a:r>
          </a:p>
          <a:p>
            <a:pPr>
              <a:defRPr sz="1050">
                <a:solidFill>
                  <a:srgbClr val="475569"/>
                </a:solidFill>
              </a:defRPr>
            </a:pPr>
            <a:r>
              <a:t>P. Murali, J. M. Baker, A. Javadi-Abhari, F. T. Chong, M. Martonosi</a:t>
            </a:r>
            <a:br/>
            <a:r>
              <a:t>arXiv:1901.11054 [quant-ph] | DOI: 10.48550/arXiv.1901.11054</a:t>
            </a:r>
          </a:p>
          <a:p>
            <a:br/>
            <a:r>
              <a:t>• Hyperbolic Codes &amp; QMRP (quanTA USask, 2026)</a:t>
            </a:r>
          </a:p>
          <a:p>
            <a:pPr>
              <a:defRPr sz="1050">
                <a:solidFill>
                  <a:srgbClr val="475569"/>
                </a:solidFill>
              </a:defRPr>
            </a:pPr>
            <a:r>
              <a:t>A. A. Mahmoud, S. Rayan</a:t>
            </a:r>
            <a:br/>
            <a:r>
              <a:t>Geometry-optimized hyperbolic codes for modular fault-tolerant quantum architectures</a:t>
            </a:r>
            <a:br/>
            <a:r>
              <a:t>arXiv:2610.10948v1 [quant-ph] | CC BY-NC-ND 4.0</a:t>
            </a:r>
          </a:p>
          <a:p>
            <a:br/>
            <a:r>
              <a:t>• Acknowledgements:</a:t>
            </a:r>
          </a:p>
          <a:p>
            <a:pPr>
              <a:defRPr sz="1050">
                <a:solidFill>
                  <a:srgbClr val="475569"/>
                </a:solidFill>
              </a:defRPr>
            </a:pPr>
            <a:r>
              <a:t>We thank quanTA, University of Saskatchewan, and Professor Steven Rayan for hosting this challenge.</a:t>
            </a:r>
            <a:b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5027</Words>
  <Application>Microsoft Office PowerPoint</Application>
  <PresentationFormat>Widescreen</PresentationFormat>
  <Paragraphs>355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Bhaskar Mahajan</cp:lastModifiedBy>
  <cp:revision>3</cp:revision>
  <dcterms:created xsi:type="dcterms:W3CDTF">2013-01-27T09:14:16Z</dcterms:created>
  <dcterms:modified xsi:type="dcterms:W3CDTF">2026-10-15T06:16:25Z</dcterms:modified>
  <cp:category/>
</cp:coreProperties>
</file>